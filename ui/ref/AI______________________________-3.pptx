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191750" cy="21155025"/>
  <p:notesSz cx="21155025" cy="101917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400"/>
            <a:ext cx="3808958" cy="295275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3" name="Shape 1"/>
          <p:cNvSpPr/>
          <p:nvPr/>
        </p:nvSpPr>
        <p:spPr>
          <a:xfrm>
            <a:off x="504825" y="647700"/>
            <a:ext cx="66675" cy="66675"/>
          </a:xfrm>
          <a:prstGeom prst="ellipse">
            <a:avLst/>
          </a:prstGeom>
          <a:solidFill>
            <a:srgbClr val="0F9650"/>
          </a:solidFill>
          <a:ln/>
        </p:spPr>
      </p:sp>
      <p:sp>
        <p:nvSpPr>
          <p:cNvPr id="4" name="Text 2"/>
          <p:cNvSpPr/>
          <p:nvPr/>
        </p:nvSpPr>
        <p:spPr>
          <a:xfrm>
            <a:off x="647700" y="600075"/>
            <a:ext cx="35209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A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ЛОГО-ПАК · «РОСТОК · ОТКРЫТЫЙ»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038225"/>
            <a:ext cx="78486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МСБ.ai — открытый росток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381000" y="1581150"/>
            <a:ext cx="78486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из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контурных листьев с прожилкой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лёгкий, технологичный, читается как рост и как «открытость» ассистента. Базовый цвет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#0F9650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Ниже — лок-апы, цветовые версии, охранное поле, минимальный размер и иконки.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000" y="2476500"/>
            <a:ext cx="9429750" cy="287655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149" y="3457575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0999" y="3605213"/>
            <a:ext cx="20318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660999" y="4090987"/>
            <a:ext cx="20318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26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1000" y="5876925"/>
            <a:ext cx="316706" cy="257175"/>
          </a:xfrm>
          <a:prstGeom prst="roundRect">
            <a:avLst>
              <a:gd name="adj" fmla="val 25926"/>
            </a:avLst>
          </a:prstGeom>
          <a:ln w="14288">
            <a:solidFill>
              <a:srgbClr val="D2EC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1488" y="5919788"/>
            <a:ext cx="2119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31056" y="5867400"/>
            <a:ext cx="10318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-14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Лок-апы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920032" y="6038850"/>
            <a:ext cx="7890718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15" name="Shape 12"/>
          <p:cNvSpPr/>
          <p:nvPr/>
        </p:nvSpPr>
        <p:spPr>
          <a:xfrm>
            <a:off x="381000" y="6343650"/>
            <a:ext cx="30289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697230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8300" y="7062788"/>
            <a:ext cx="1333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spc="-19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875" b="1" spc="-19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18" name="Text 14"/>
          <p:cNvSpPr/>
          <p:nvPr/>
        </p:nvSpPr>
        <p:spPr>
          <a:xfrm>
            <a:off x="1638300" y="7367587"/>
            <a:ext cx="13335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81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75" dirty="0"/>
          </a:p>
        </p:txBody>
      </p:sp>
      <p:sp>
        <p:nvSpPr>
          <p:cNvPr id="19" name="Shape 15"/>
          <p:cNvSpPr/>
          <p:nvPr/>
        </p:nvSpPr>
        <p:spPr>
          <a:xfrm>
            <a:off x="390525" y="8162925"/>
            <a:ext cx="30099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20" name="Text 16"/>
          <p:cNvSpPr/>
          <p:nvPr/>
        </p:nvSpPr>
        <p:spPr>
          <a:xfrm>
            <a:off x="561975" y="8296275"/>
            <a:ext cx="11425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Горизонтальный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2715071" y="8310562"/>
            <a:ext cx="590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</a:t>
            </a:r>
            <a:endParaRPr lang="en-US" sz="863" dirty="0"/>
          </a:p>
        </p:txBody>
      </p:sp>
      <p:sp>
        <p:nvSpPr>
          <p:cNvPr id="22" name="Shape 18"/>
          <p:cNvSpPr/>
          <p:nvPr/>
        </p:nvSpPr>
        <p:spPr>
          <a:xfrm>
            <a:off x="3581400" y="6343650"/>
            <a:ext cx="30289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401" y="6734175"/>
            <a:ext cx="628650" cy="628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63368" y="7534275"/>
            <a:ext cx="10647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ctr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498925" y="7829550"/>
            <a:ext cx="119375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3590925" y="8286750"/>
            <a:ext cx="30099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27" name="Text 22"/>
          <p:cNvSpPr/>
          <p:nvPr/>
        </p:nvSpPr>
        <p:spPr>
          <a:xfrm>
            <a:off x="3762375" y="8420100"/>
            <a:ext cx="10060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Вертикальный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5283250" y="8434388"/>
            <a:ext cx="12223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компактные форматы</a:t>
            </a:r>
            <a:endParaRPr lang="en-US" sz="863" dirty="0"/>
          </a:p>
        </p:txBody>
      </p:sp>
      <p:sp>
        <p:nvSpPr>
          <p:cNvPr id="29" name="Shape 24"/>
          <p:cNvSpPr/>
          <p:nvPr/>
        </p:nvSpPr>
        <p:spPr>
          <a:xfrm>
            <a:off x="6781800" y="6343650"/>
            <a:ext cx="30289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6867525"/>
            <a:ext cx="781050" cy="78105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791325" y="8162925"/>
            <a:ext cx="30099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32" name="Text 26"/>
          <p:cNvSpPr/>
          <p:nvPr/>
        </p:nvSpPr>
        <p:spPr>
          <a:xfrm>
            <a:off x="6962775" y="8296275"/>
            <a:ext cx="837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знак</a:t>
            </a:r>
            <a:endParaRPr lang="en-US" sz="1013" dirty="0"/>
          </a:p>
        </p:txBody>
      </p:sp>
      <p:sp>
        <p:nvSpPr>
          <p:cNvPr id="33" name="Text 27"/>
          <p:cNvSpPr/>
          <p:nvPr/>
        </p:nvSpPr>
        <p:spPr>
          <a:xfrm>
            <a:off x="8845153" y="8310562"/>
            <a:ext cx="8608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аватар, иконка</a:t>
            </a:r>
            <a:endParaRPr lang="en-US" sz="863" dirty="0"/>
          </a:p>
        </p:txBody>
      </p:sp>
      <p:sp>
        <p:nvSpPr>
          <p:cNvPr id="34" name="Shape 28"/>
          <p:cNvSpPr/>
          <p:nvPr/>
        </p:nvSpPr>
        <p:spPr>
          <a:xfrm>
            <a:off x="381000" y="9248775"/>
            <a:ext cx="336203" cy="257175"/>
          </a:xfrm>
          <a:prstGeom prst="roundRect">
            <a:avLst>
              <a:gd name="adj" fmla="val 25926"/>
            </a:avLst>
          </a:prstGeom>
          <a:ln w="14288">
            <a:solidFill>
              <a:srgbClr val="D2ECD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71488" y="9291638"/>
            <a:ext cx="2314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850553" y="9239250"/>
            <a:ext cx="20565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-14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Цветовые версии</a:t>
            </a:r>
            <a:endParaRPr lang="en-US" sz="1425" dirty="0"/>
          </a:p>
        </p:txBody>
      </p:sp>
      <p:sp>
        <p:nvSpPr>
          <p:cNvPr id="37" name="Shape 31"/>
          <p:cNvSpPr/>
          <p:nvPr/>
        </p:nvSpPr>
        <p:spPr>
          <a:xfrm>
            <a:off x="2964210" y="9410700"/>
            <a:ext cx="684654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38" name="Shape 32"/>
          <p:cNvSpPr/>
          <p:nvPr/>
        </p:nvSpPr>
        <p:spPr>
          <a:xfrm>
            <a:off x="381000" y="9715500"/>
            <a:ext cx="2228850" cy="225742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90525" y="9725025"/>
            <a:ext cx="2209800" cy="1809750"/>
          </a:xfrm>
          <a:prstGeom prst="rect">
            <a:avLst/>
          </a:prstGeom>
          <a:solidFill>
            <a:srgbClr val="E7F5EC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92" y="10344150"/>
            <a:ext cx="527893" cy="5715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329035" y="10406063"/>
            <a:ext cx="11083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00" dirty="0"/>
          </a:p>
        </p:txBody>
      </p:sp>
      <p:sp>
        <p:nvSpPr>
          <p:cNvPr id="42" name="Text 35"/>
          <p:cNvSpPr/>
          <p:nvPr/>
        </p:nvSpPr>
        <p:spPr>
          <a:xfrm>
            <a:off x="1329035" y="10701338"/>
            <a:ext cx="1108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43" name="Shape 36"/>
          <p:cNvSpPr/>
          <p:nvPr/>
        </p:nvSpPr>
        <p:spPr>
          <a:xfrm>
            <a:off x="390525" y="11534775"/>
            <a:ext cx="22098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44" name="Text 37"/>
          <p:cNvSpPr/>
          <p:nvPr/>
        </p:nvSpPr>
        <p:spPr>
          <a:xfrm>
            <a:off x="561975" y="11668125"/>
            <a:ext cx="5600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цвете</a:t>
            </a:r>
            <a:endParaRPr lang="en-US" sz="1013" dirty="0"/>
          </a:p>
        </p:txBody>
      </p:sp>
      <p:sp>
        <p:nvSpPr>
          <p:cNvPr id="45" name="Text 38"/>
          <p:cNvSpPr/>
          <p:nvPr/>
        </p:nvSpPr>
        <p:spPr>
          <a:xfrm>
            <a:off x="1832670" y="11682413"/>
            <a:ext cx="6724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светлом</a:t>
            </a:r>
            <a:endParaRPr lang="en-US" sz="863" dirty="0"/>
          </a:p>
        </p:txBody>
      </p:sp>
      <p:sp>
        <p:nvSpPr>
          <p:cNvPr id="46" name="Shape 39"/>
          <p:cNvSpPr/>
          <p:nvPr/>
        </p:nvSpPr>
        <p:spPr>
          <a:xfrm>
            <a:off x="2781300" y="9715500"/>
            <a:ext cx="2228850" cy="225742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2790825" y="9725025"/>
            <a:ext cx="2209800" cy="1809750"/>
          </a:xfrm>
          <a:prstGeom prst="rect">
            <a:avLst/>
          </a:prstGeom>
          <a:solidFill>
            <a:srgbClr val="0F9650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9992" y="10344150"/>
            <a:ext cx="527893" cy="57150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729335" y="10406063"/>
            <a:ext cx="11083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C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3729335" y="10701338"/>
            <a:ext cx="1108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BFE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51" name="Shape 43"/>
          <p:cNvSpPr/>
          <p:nvPr/>
        </p:nvSpPr>
        <p:spPr>
          <a:xfrm>
            <a:off x="2790825" y="11534775"/>
            <a:ext cx="22098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52" name="Text 44"/>
          <p:cNvSpPr/>
          <p:nvPr/>
        </p:nvSpPr>
        <p:spPr>
          <a:xfrm>
            <a:off x="2962275" y="11668125"/>
            <a:ext cx="7727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Выворотка</a:t>
            </a:r>
            <a:endParaRPr lang="en-US" sz="1013" dirty="0"/>
          </a:p>
        </p:txBody>
      </p:sp>
      <p:sp>
        <p:nvSpPr>
          <p:cNvPr id="53" name="Text 45"/>
          <p:cNvSpPr/>
          <p:nvPr/>
        </p:nvSpPr>
        <p:spPr>
          <a:xfrm>
            <a:off x="4221659" y="11682413"/>
            <a:ext cx="68371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зелёном</a:t>
            </a:r>
            <a:endParaRPr lang="en-US" sz="863" dirty="0"/>
          </a:p>
        </p:txBody>
      </p:sp>
      <p:sp>
        <p:nvSpPr>
          <p:cNvPr id="54" name="Shape 46"/>
          <p:cNvSpPr/>
          <p:nvPr/>
        </p:nvSpPr>
        <p:spPr>
          <a:xfrm>
            <a:off x="5181600" y="9715500"/>
            <a:ext cx="2228850" cy="225742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191125" y="9725025"/>
            <a:ext cx="2209800" cy="1809750"/>
          </a:xfrm>
          <a:prstGeom prst="rect">
            <a:avLst/>
          </a:prstGeom>
          <a:solidFill>
            <a:srgbClr val="0E1A12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0292" y="10344150"/>
            <a:ext cx="527893" cy="57150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6129635" y="10406063"/>
            <a:ext cx="11083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56D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00" dirty="0"/>
          </a:p>
        </p:txBody>
      </p:sp>
      <p:sp>
        <p:nvSpPr>
          <p:cNvPr id="58" name="Text 49"/>
          <p:cNvSpPr/>
          <p:nvPr/>
        </p:nvSpPr>
        <p:spPr>
          <a:xfrm>
            <a:off x="6129635" y="10701338"/>
            <a:ext cx="1108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8F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59" name="Shape 50"/>
          <p:cNvSpPr/>
          <p:nvPr/>
        </p:nvSpPr>
        <p:spPr>
          <a:xfrm>
            <a:off x="5191125" y="11534775"/>
            <a:ext cx="22098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60" name="Text 51"/>
          <p:cNvSpPr/>
          <p:nvPr/>
        </p:nvSpPr>
        <p:spPr>
          <a:xfrm>
            <a:off x="5362575" y="11668125"/>
            <a:ext cx="7585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тёмном</a:t>
            </a:r>
            <a:endParaRPr lang="en-US" sz="1013" dirty="0"/>
          </a:p>
        </p:txBody>
      </p:sp>
      <p:sp>
        <p:nvSpPr>
          <p:cNvPr id="61" name="Text 52"/>
          <p:cNvSpPr/>
          <p:nvPr/>
        </p:nvSpPr>
        <p:spPr>
          <a:xfrm>
            <a:off x="6723013" y="11682413"/>
            <a:ext cx="5826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инверсия</a:t>
            </a:r>
            <a:endParaRPr lang="en-US" sz="863" dirty="0"/>
          </a:p>
        </p:txBody>
      </p:sp>
      <p:sp>
        <p:nvSpPr>
          <p:cNvPr id="62" name="Shape 53"/>
          <p:cNvSpPr/>
          <p:nvPr/>
        </p:nvSpPr>
        <p:spPr>
          <a:xfrm>
            <a:off x="7581900" y="9715500"/>
            <a:ext cx="2228850" cy="225742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0592" y="10344150"/>
            <a:ext cx="527893" cy="571500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8529935" y="10406063"/>
            <a:ext cx="11083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МСБ.ai</a:t>
            </a:r>
            <a:endParaRPr lang="en-US" sz="1800" dirty="0"/>
          </a:p>
        </p:txBody>
      </p:sp>
      <p:sp>
        <p:nvSpPr>
          <p:cNvPr id="65" name="Text 55"/>
          <p:cNvSpPr/>
          <p:nvPr/>
        </p:nvSpPr>
        <p:spPr>
          <a:xfrm>
            <a:off x="8529935" y="10701338"/>
            <a:ext cx="1108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66" name="Shape 56"/>
          <p:cNvSpPr/>
          <p:nvPr/>
        </p:nvSpPr>
        <p:spPr>
          <a:xfrm>
            <a:off x="7591425" y="11534775"/>
            <a:ext cx="22098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67" name="Text 57"/>
          <p:cNvSpPr/>
          <p:nvPr/>
        </p:nvSpPr>
        <p:spPr>
          <a:xfrm>
            <a:off x="7762875" y="11668125"/>
            <a:ext cx="753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 (ink)</a:t>
            </a:r>
            <a:endParaRPr lang="en-US" sz="1013" dirty="0"/>
          </a:p>
        </p:txBody>
      </p:sp>
      <p:sp>
        <p:nvSpPr>
          <p:cNvPr id="68" name="Text 58"/>
          <p:cNvSpPr/>
          <p:nvPr/>
        </p:nvSpPr>
        <p:spPr>
          <a:xfrm>
            <a:off x="9201150" y="11682413"/>
            <a:ext cx="504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краска</a:t>
            </a:r>
            <a:endParaRPr lang="en-US" sz="863" dirty="0"/>
          </a:p>
        </p:txBody>
      </p:sp>
      <p:sp>
        <p:nvSpPr>
          <p:cNvPr id="69" name="Shape 59"/>
          <p:cNvSpPr/>
          <p:nvPr/>
        </p:nvSpPr>
        <p:spPr>
          <a:xfrm>
            <a:off x="381000" y="12496800"/>
            <a:ext cx="334566" cy="257175"/>
          </a:xfrm>
          <a:prstGeom prst="roundRect">
            <a:avLst>
              <a:gd name="adj" fmla="val 25926"/>
            </a:avLst>
          </a:prstGeom>
          <a:ln w="14288">
            <a:solidFill>
              <a:srgbClr val="D2ECDC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471488" y="12539663"/>
            <a:ext cx="2297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71" name="Text 61"/>
          <p:cNvSpPr/>
          <p:nvPr/>
        </p:nvSpPr>
        <p:spPr>
          <a:xfrm>
            <a:off x="848916" y="12487275"/>
            <a:ext cx="46210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-14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Охранное поле и минимальный размер</a:t>
            </a:r>
            <a:endParaRPr lang="en-US" sz="1425" dirty="0"/>
          </a:p>
        </p:txBody>
      </p:sp>
      <p:sp>
        <p:nvSpPr>
          <p:cNvPr id="72" name="Shape 62"/>
          <p:cNvSpPr/>
          <p:nvPr/>
        </p:nvSpPr>
        <p:spPr>
          <a:xfrm>
            <a:off x="5468689" y="12658725"/>
            <a:ext cx="4342061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73" name="Shape 63"/>
          <p:cNvSpPr/>
          <p:nvPr/>
        </p:nvSpPr>
        <p:spPr>
          <a:xfrm>
            <a:off x="381000" y="12963525"/>
            <a:ext cx="4629150" cy="2752725"/>
          </a:xfrm>
          <a:prstGeom prst="roundRect">
            <a:avLst>
              <a:gd name="adj" fmla="val 6228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390525" y="12973050"/>
            <a:ext cx="4610100" cy="180975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75" name="Shape 65"/>
          <p:cNvSpPr/>
          <p:nvPr/>
        </p:nvSpPr>
        <p:spPr>
          <a:xfrm>
            <a:off x="1555700" y="13382625"/>
            <a:ext cx="2279600" cy="990600"/>
          </a:xfrm>
          <a:prstGeom prst="roundRect">
            <a:avLst>
              <a:gd name="adj" fmla="val 5769"/>
            </a:avLst>
          </a:prstGeom>
          <a:ln w="9525">
            <a:solidFill>
              <a:srgbClr val="0F9650"/>
            </a:solidFill>
            <a:prstDash val="dash"/>
          </a:ln>
        </p:spPr>
      </p:sp>
      <p:sp>
        <p:nvSpPr>
          <p:cNvPr id="76" name="Shape 66"/>
          <p:cNvSpPr/>
          <p:nvPr/>
        </p:nvSpPr>
        <p:spPr>
          <a:xfrm>
            <a:off x="1736675" y="13563600"/>
            <a:ext cx="1917650" cy="628650"/>
          </a:xfrm>
          <a:prstGeom prst="rect">
            <a:avLst/>
          </a:prstGeom>
          <a:solidFill>
            <a:srgbClr val="E7F5EC"/>
          </a:solidFill>
          <a:ln/>
        </p:spPr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3825" y="13620750"/>
            <a:ext cx="514350" cy="514350"/>
          </a:xfrm>
          <a:prstGeom prst="rect">
            <a:avLst/>
          </a:prstGeom>
        </p:spPr>
      </p:pic>
      <p:sp>
        <p:nvSpPr>
          <p:cNvPr id="78" name="Text 67"/>
          <p:cNvSpPr/>
          <p:nvPr/>
        </p:nvSpPr>
        <p:spPr>
          <a:xfrm>
            <a:off x="2479625" y="13706475"/>
            <a:ext cx="1193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16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650" b="1" spc="-16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650" dirty="0"/>
          </a:p>
        </p:txBody>
      </p:sp>
      <p:sp>
        <p:nvSpPr>
          <p:cNvPr id="79" name="Text 68"/>
          <p:cNvSpPr/>
          <p:nvPr/>
        </p:nvSpPr>
        <p:spPr>
          <a:xfrm>
            <a:off x="2479625" y="13973175"/>
            <a:ext cx="119375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80" name="Shape 69"/>
          <p:cNvSpPr/>
          <p:nvPr/>
        </p:nvSpPr>
        <p:spPr>
          <a:xfrm>
            <a:off x="390525" y="14782800"/>
            <a:ext cx="46101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81" name="Text 70"/>
          <p:cNvSpPr/>
          <p:nvPr/>
        </p:nvSpPr>
        <p:spPr>
          <a:xfrm>
            <a:off x="561975" y="14916150"/>
            <a:ext cx="1050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Охранное поле</a:t>
            </a:r>
            <a:endParaRPr lang="en-US" sz="1013" dirty="0"/>
          </a:p>
        </p:txBody>
      </p:sp>
      <p:sp>
        <p:nvSpPr>
          <p:cNvPr id="82" name="Text 71"/>
          <p:cNvSpPr/>
          <p:nvPr/>
        </p:nvSpPr>
        <p:spPr>
          <a:xfrm>
            <a:off x="3320207" y="14930438"/>
            <a:ext cx="15851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 = высота листа знака</a:t>
            </a:r>
            <a:endParaRPr lang="en-US" sz="863" dirty="0"/>
          </a:p>
        </p:txBody>
      </p:sp>
      <p:sp>
        <p:nvSpPr>
          <p:cNvPr id="83" name="Shape 72"/>
          <p:cNvSpPr/>
          <p:nvPr/>
        </p:nvSpPr>
        <p:spPr>
          <a:xfrm>
            <a:off x="5181600" y="12963525"/>
            <a:ext cx="4629150" cy="2752725"/>
          </a:xfrm>
          <a:prstGeom prst="roundRect">
            <a:avLst>
              <a:gd name="adj" fmla="val 6228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620" y="13354050"/>
            <a:ext cx="552450" cy="552450"/>
          </a:xfrm>
          <a:prstGeom prst="rect">
            <a:avLst/>
          </a:prstGeom>
        </p:spPr>
      </p:pic>
      <p:sp>
        <p:nvSpPr>
          <p:cNvPr id="85" name="Text 73"/>
          <p:cNvSpPr/>
          <p:nvPr/>
        </p:nvSpPr>
        <p:spPr>
          <a:xfrm>
            <a:off x="6874520" y="13444538"/>
            <a:ext cx="1193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F9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00" dirty="0"/>
          </a:p>
        </p:txBody>
      </p:sp>
      <p:sp>
        <p:nvSpPr>
          <p:cNvPr id="86" name="Text 74"/>
          <p:cNvSpPr/>
          <p:nvPr/>
        </p:nvSpPr>
        <p:spPr>
          <a:xfrm>
            <a:off x="6874520" y="13739813"/>
            <a:ext cx="119375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72" kern="0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АССИСТЕНТ</a:t>
            </a:r>
            <a:endParaRPr lang="en-US" sz="600" dirty="0"/>
          </a:p>
        </p:txBody>
      </p:sp>
      <p:sp>
        <p:nvSpPr>
          <p:cNvPr id="87" name="Text 75"/>
          <p:cNvSpPr/>
          <p:nvPr/>
        </p:nvSpPr>
        <p:spPr>
          <a:xfrm>
            <a:off x="6661993" y="13992225"/>
            <a:ext cx="894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 · мин. 100px</a:t>
            </a:r>
            <a:endParaRPr lang="en-US" sz="788" dirty="0"/>
          </a:p>
        </p:txBody>
      </p:sp>
      <p:pic>
        <p:nvPicPr>
          <p:cNvPr id="8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8251" y="13525500"/>
            <a:ext cx="381000" cy="381000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8315920" y="13992225"/>
            <a:ext cx="6020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· 40px</a:t>
            </a:r>
            <a:endParaRPr lang="en-US" sz="788" dirty="0"/>
          </a:p>
        </p:txBody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6334" y="14449425"/>
            <a:ext cx="228600" cy="228600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6376690" y="14763750"/>
            <a:ext cx="12842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· 24px (мин. контур)</a:t>
            </a:r>
            <a:endParaRPr lang="en-US" sz="788" dirty="0"/>
          </a:p>
        </p:txBody>
      </p:sp>
      <p:pic>
        <p:nvPicPr>
          <p:cNvPr id="9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5845" y="14525625"/>
            <a:ext cx="152400" cy="152400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7908578" y="14763750"/>
            <a:ext cx="7832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 · плотный</a:t>
            </a:r>
            <a:endParaRPr lang="en-US" sz="788" dirty="0"/>
          </a:p>
        </p:txBody>
      </p:sp>
      <p:sp>
        <p:nvSpPr>
          <p:cNvPr id="94" name="Shape 79"/>
          <p:cNvSpPr/>
          <p:nvPr/>
        </p:nvSpPr>
        <p:spPr>
          <a:xfrm>
            <a:off x="5191125" y="15278100"/>
            <a:ext cx="46101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95" name="Text 80"/>
          <p:cNvSpPr/>
          <p:nvPr/>
        </p:nvSpPr>
        <p:spPr>
          <a:xfrm>
            <a:off x="5362575" y="15411450"/>
            <a:ext cx="14878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размер</a:t>
            </a:r>
            <a:endParaRPr lang="en-US" sz="1013" dirty="0"/>
          </a:p>
        </p:txBody>
      </p:sp>
      <p:sp>
        <p:nvSpPr>
          <p:cNvPr id="96" name="Text 81"/>
          <p:cNvSpPr/>
          <p:nvPr/>
        </p:nvSpPr>
        <p:spPr>
          <a:xfrm>
            <a:off x="7194947" y="15425738"/>
            <a:ext cx="25110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— от 24px; для 16px — плотный вариант</a:t>
            </a:r>
            <a:endParaRPr lang="en-US" sz="863" dirty="0"/>
          </a:p>
        </p:txBody>
      </p:sp>
      <p:sp>
        <p:nvSpPr>
          <p:cNvPr id="97" name="Shape 82"/>
          <p:cNvSpPr/>
          <p:nvPr/>
        </p:nvSpPr>
        <p:spPr>
          <a:xfrm>
            <a:off x="381000" y="16240125"/>
            <a:ext cx="337840" cy="257175"/>
          </a:xfrm>
          <a:prstGeom prst="roundRect">
            <a:avLst>
              <a:gd name="adj" fmla="val 25926"/>
            </a:avLst>
          </a:prstGeom>
          <a:ln w="14288">
            <a:solidFill>
              <a:srgbClr val="D2ECDC"/>
            </a:solidFill>
            <a:prstDash val="solid"/>
          </a:ln>
        </p:spPr>
      </p:sp>
      <p:sp>
        <p:nvSpPr>
          <p:cNvPr id="98" name="Text 83"/>
          <p:cNvSpPr/>
          <p:nvPr/>
        </p:nvSpPr>
        <p:spPr>
          <a:xfrm>
            <a:off x="471488" y="16282988"/>
            <a:ext cx="2330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99" name="Text 84"/>
          <p:cNvSpPr/>
          <p:nvPr/>
        </p:nvSpPr>
        <p:spPr>
          <a:xfrm>
            <a:off x="852190" y="16230600"/>
            <a:ext cx="34857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-14" kern="0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Иконка приложения и favicon</a:t>
            </a:r>
            <a:endParaRPr lang="en-US" sz="1425" dirty="0"/>
          </a:p>
        </p:txBody>
      </p:sp>
      <p:sp>
        <p:nvSpPr>
          <p:cNvPr id="100" name="Shape 85"/>
          <p:cNvSpPr/>
          <p:nvPr/>
        </p:nvSpPr>
        <p:spPr>
          <a:xfrm>
            <a:off x="4369743" y="16402050"/>
            <a:ext cx="5441007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101" name="Shape 86"/>
          <p:cNvSpPr/>
          <p:nvPr/>
        </p:nvSpPr>
        <p:spPr>
          <a:xfrm>
            <a:off x="381000" y="16706850"/>
            <a:ext cx="4629150" cy="23431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1400175" y="17097375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0F9650"/>
          </a:solidFill>
          <a:ln/>
          <a:effectLst>
            <a:outerShdw sx="100000" sy="100000" kx="0" ky="0" algn="bl" rotWithShape="0" blurRad="285750" dist="114300" dir="5400000">
              <a:srgbClr val="0F9650">
                <a:alpha val="22000"/>
              </a:srgbClr>
            </a:outerShdw>
          </a:effectLst>
        </p:spPr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1150" y="17278350"/>
            <a:ext cx="552450" cy="552450"/>
          </a:xfrm>
          <a:prstGeom prst="rect">
            <a:avLst/>
          </a:prstGeom>
        </p:spPr>
      </p:pic>
      <p:sp>
        <p:nvSpPr>
          <p:cNvPr id="104" name="Text 88"/>
          <p:cNvSpPr/>
          <p:nvPr/>
        </p:nvSpPr>
        <p:spPr>
          <a:xfrm>
            <a:off x="1738313" y="18097500"/>
            <a:ext cx="3143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96px</a:t>
            </a:r>
            <a:endParaRPr lang="en-US" sz="788" dirty="0"/>
          </a:p>
        </p:txBody>
      </p:sp>
      <p:sp>
        <p:nvSpPr>
          <p:cNvPr id="105" name="Shape 89"/>
          <p:cNvSpPr/>
          <p:nvPr/>
        </p:nvSpPr>
        <p:spPr>
          <a:xfrm>
            <a:off x="2638425" y="17402175"/>
            <a:ext cx="609600" cy="609600"/>
          </a:xfrm>
          <a:prstGeom prst="roundRect">
            <a:avLst>
              <a:gd name="adj" fmla="val 24000"/>
            </a:avLst>
          </a:prstGeom>
          <a:solidFill>
            <a:srgbClr val="0F9650"/>
          </a:solidFill>
          <a:ln/>
          <a:effectLst>
            <a:outerShdw sx="100000" sy="100000" kx="0" ky="0" algn="bl" rotWithShape="0" blurRad="285750" dist="114300" dir="5400000">
              <a:srgbClr val="0F9650">
                <a:alpha val="22000"/>
              </a:srgbClr>
            </a:outerShdw>
          </a:effectLst>
        </p:spPr>
      </p:sp>
      <p:pic>
        <p:nvPicPr>
          <p:cNvPr id="10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62250" y="17526000"/>
            <a:ext cx="361950" cy="361950"/>
          </a:xfrm>
          <a:prstGeom prst="rect">
            <a:avLst/>
          </a:prstGeom>
        </p:spPr>
      </p:pic>
      <p:sp>
        <p:nvSpPr>
          <p:cNvPr id="107" name="Text 90"/>
          <p:cNvSpPr/>
          <p:nvPr/>
        </p:nvSpPr>
        <p:spPr>
          <a:xfrm>
            <a:off x="2825055" y="18097500"/>
            <a:ext cx="3125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64px</a:t>
            </a:r>
            <a:endParaRPr lang="en-US" sz="788" dirty="0"/>
          </a:p>
        </p:txBody>
      </p:sp>
      <p:sp>
        <p:nvSpPr>
          <p:cNvPr id="108" name="Shape 91"/>
          <p:cNvSpPr/>
          <p:nvPr/>
        </p:nvSpPr>
        <p:spPr>
          <a:xfrm>
            <a:off x="3571875" y="17592675"/>
            <a:ext cx="419100" cy="419100"/>
          </a:xfrm>
          <a:prstGeom prst="roundRect">
            <a:avLst>
              <a:gd name="adj" fmla="val 24000"/>
            </a:avLst>
          </a:prstGeom>
          <a:solidFill>
            <a:srgbClr val="0F9650"/>
          </a:solidFill>
          <a:ln/>
          <a:effectLst>
            <a:outerShdw sx="100000" sy="100000" kx="0" ky="0" algn="bl" rotWithShape="0" blurRad="285750" dist="114300" dir="5400000">
              <a:srgbClr val="0F9650">
                <a:alpha val="22000"/>
              </a:srgbClr>
            </a:outerShdw>
          </a:effectLst>
        </p:spPr>
      </p:sp>
      <p:pic>
        <p:nvPicPr>
          <p:cNvPr id="10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7600" y="17678400"/>
            <a:ext cx="247650" cy="247650"/>
          </a:xfrm>
          <a:prstGeom prst="rect">
            <a:avLst/>
          </a:prstGeom>
        </p:spPr>
      </p:pic>
      <p:sp>
        <p:nvSpPr>
          <p:cNvPr id="110" name="Text 92"/>
          <p:cNvSpPr/>
          <p:nvPr/>
        </p:nvSpPr>
        <p:spPr>
          <a:xfrm>
            <a:off x="3664446" y="18097500"/>
            <a:ext cx="3100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44px</a:t>
            </a:r>
            <a:endParaRPr lang="en-US" sz="788" dirty="0"/>
          </a:p>
        </p:txBody>
      </p:sp>
      <p:sp>
        <p:nvSpPr>
          <p:cNvPr id="111" name="Shape 93"/>
          <p:cNvSpPr/>
          <p:nvPr/>
        </p:nvSpPr>
        <p:spPr>
          <a:xfrm>
            <a:off x="390525" y="18611850"/>
            <a:ext cx="46101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112" name="Text 94"/>
          <p:cNvSpPr/>
          <p:nvPr/>
        </p:nvSpPr>
        <p:spPr>
          <a:xfrm>
            <a:off x="561975" y="18745200"/>
            <a:ext cx="136222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Иконка приложения</a:t>
            </a:r>
            <a:endParaRPr lang="en-US" sz="1013" dirty="0"/>
          </a:p>
        </p:txBody>
      </p:sp>
      <p:sp>
        <p:nvSpPr>
          <p:cNvPr id="113" name="Text 95"/>
          <p:cNvSpPr/>
          <p:nvPr/>
        </p:nvSpPr>
        <p:spPr>
          <a:xfrm>
            <a:off x="3222427" y="18759488"/>
            <a:ext cx="16829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выворотом на зелёном</a:t>
            </a:r>
            <a:endParaRPr lang="en-US" sz="863" dirty="0"/>
          </a:p>
        </p:txBody>
      </p:sp>
      <p:sp>
        <p:nvSpPr>
          <p:cNvPr id="114" name="Shape 96"/>
          <p:cNvSpPr/>
          <p:nvPr/>
        </p:nvSpPr>
        <p:spPr>
          <a:xfrm>
            <a:off x="5181600" y="16706850"/>
            <a:ext cx="4629150" cy="23431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EE4DF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6682234" y="1728311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9650"/>
          </a:solidFill>
          <a:ln/>
        </p:spPr>
      </p:sp>
      <p:pic>
        <p:nvPicPr>
          <p:cNvPr id="11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44146" y="17345025"/>
            <a:ext cx="333375" cy="333375"/>
          </a:xfrm>
          <a:prstGeom prst="rect">
            <a:avLst/>
          </a:prstGeom>
        </p:spPr>
      </p:pic>
      <p:sp>
        <p:nvSpPr>
          <p:cNvPr id="117" name="Text 98"/>
          <p:cNvSpPr/>
          <p:nvPr/>
        </p:nvSpPr>
        <p:spPr>
          <a:xfrm>
            <a:off x="6793706" y="17826038"/>
            <a:ext cx="3104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48px</a:t>
            </a:r>
            <a:endParaRPr lang="en-US" sz="788" dirty="0"/>
          </a:p>
        </p:txBody>
      </p:sp>
      <p:sp>
        <p:nvSpPr>
          <p:cNvPr id="118" name="Shape 99"/>
          <p:cNvSpPr/>
          <p:nvPr/>
        </p:nvSpPr>
        <p:spPr>
          <a:xfrm>
            <a:off x="7463284" y="1743551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F9650"/>
          </a:solidFill>
          <a:ln/>
        </p:spPr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6146" y="17478375"/>
            <a:ext cx="219075" cy="219075"/>
          </a:xfrm>
          <a:prstGeom prst="rect">
            <a:avLst/>
          </a:prstGeom>
        </p:spPr>
      </p:pic>
      <p:sp>
        <p:nvSpPr>
          <p:cNvPr id="120" name="Text 100"/>
          <p:cNvSpPr/>
          <p:nvPr/>
        </p:nvSpPr>
        <p:spPr>
          <a:xfrm>
            <a:off x="7500789" y="17826038"/>
            <a:ext cx="30599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32px</a:t>
            </a:r>
            <a:endParaRPr lang="en-US" sz="788" dirty="0"/>
          </a:p>
        </p:txBody>
      </p:sp>
      <p:sp>
        <p:nvSpPr>
          <p:cNvPr id="121" name="Shape 101"/>
          <p:cNvSpPr/>
          <p:nvPr/>
        </p:nvSpPr>
        <p:spPr>
          <a:xfrm>
            <a:off x="8124825" y="1758791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F9650"/>
          </a:solidFill>
          <a:ln/>
        </p:spPr>
      </p:sp>
      <p:pic>
        <p:nvPicPr>
          <p:cNvPr id="12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43875" y="17606963"/>
            <a:ext cx="114300" cy="114300"/>
          </a:xfrm>
          <a:prstGeom prst="rect">
            <a:avLst/>
          </a:prstGeom>
        </p:spPr>
      </p:pic>
      <p:sp>
        <p:nvSpPr>
          <p:cNvPr id="123" name="Text 102"/>
          <p:cNvSpPr/>
          <p:nvPr/>
        </p:nvSpPr>
        <p:spPr>
          <a:xfrm>
            <a:off x="8091934" y="17826038"/>
            <a:ext cx="2943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</a:t>
            </a:r>
            <a:endParaRPr lang="en-US" sz="788" dirty="0"/>
          </a:p>
        </p:txBody>
      </p:sp>
      <p:sp>
        <p:nvSpPr>
          <p:cNvPr id="124" name="Shape 103"/>
          <p:cNvSpPr/>
          <p:nvPr/>
        </p:nvSpPr>
        <p:spPr>
          <a:xfrm>
            <a:off x="5191125" y="18526125"/>
            <a:ext cx="46101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125" name="Text 104"/>
          <p:cNvSpPr/>
          <p:nvPr/>
        </p:nvSpPr>
        <p:spPr>
          <a:xfrm>
            <a:off x="5362575" y="18659475"/>
            <a:ext cx="5517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</a:t>
            </a:r>
            <a:endParaRPr lang="en-US" sz="1013" dirty="0"/>
          </a:p>
        </p:txBody>
      </p:sp>
      <p:sp>
        <p:nvSpPr>
          <p:cNvPr id="126" name="Text 105"/>
          <p:cNvSpPr/>
          <p:nvPr/>
        </p:nvSpPr>
        <p:spPr>
          <a:xfrm>
            <a:off x="8039100" y="18673763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32 · 48px (плотный контур)</a:t>
            </a:r>
            <a:endParaRPr lang="en-US" sz="863" dirty="0"/>
          </a:p>
        </p:txBody>
      </p:sp>
      <p:sp>
        <p:nvSpPr>
          <p:cNvPr id="127" name="Shape 106"/>
          <p:cNvSpPr/>
          <p:nvPr/>
        </p:nvSpPr>
        <p:spPr>
          <a:xfrm>
            <a:off x="381000" y="19373850"/>
            <a:ext cx="7429500" cy="9525"/>
          </a:xfrm>
          <a:prstGeom prst="rect">
            <a:avLst/>
          </a:prstGeom>
          <a:solidFill>
            <a:srgbClr val="DEE4DF"/>
          </a:solidFill>
          <a:ln/>
        </p:spPr>
      </p:sp>
      <p:sp>
        <p:nvSpPr>
          <p:cNvPr id="128" name="Text 107"/>
          <p:cNvSpPr/>
          <p:nvPr/>
        </p:nvSpPr>
        <p:spPr>
          <a:xfrm>
            <a:off x="381000" y="19592925"/>
            <a:ext cx="765238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0E1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Особенность контурного знака: 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4654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размерах ниже ~24px тонкая линия «заплывает», поэтому для favicon и 16px использую слегка утолщённый вариант (см. ряд favicon). Если ок — экспортирую SVG + PNG (1×/2×/3×) всех версий и соберу гайд. Могу также сделать визитку/шапку письма.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2026-06-15T07:58:18Z</dcterms:created>
  <dcterms:modified xsi:type="dcterms:W3CDTF">2026-06-15T07:58:18Z</dcterms:modified>
</cp:coreProperties>
</file>